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青野食研所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DE0C0"/>
                </a:solidFill>
                <a:latin typeface="微软雅黑"/>
              </a:defRPr>
            </a:pPr>
            <a:r>
              <a:t>QINGYE FOOD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企业团餐合作方案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7BA05B"/>
                </a:solidFill>
                <a:latin typeface="微软雅黑"/>
              </a:defRPr>
            </a:pPr>
            <a:r>
              <a:t>健康 · 新鲜 · 便捷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383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3D3D3D"/>
                </a:solidFill>
                <a:latin typeface="微软雅黑"/>
              </a:defRPr>
            </a:pPr>
            <a:r>
              <a:t>为您的团队提供高品质午餐配送服务</a:t>
            </a:r>
            <a:br/>
            <a:r>
              <a:t>让每一位员工吃好，工作更好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5029200"/>
            <a:ext cx="109728" cy="109728"/>
          </a:xfrm>
          <a:prstGeom prst="rect">
            <a:avLst/>
          </a:prstGeom>
          <a:solidFill>
            <a:srgbClr val="9BB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5394960"/>
            <a:ext cx="109728" cy="109728"/>
          </a:xfrm>
          <a:prstGeom prst="rect">
            <a:avLst/>
          </a:prstGeom>
          <a:solidFill>
            <a:srgbClr val="9BB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5760720"/>
            <a:ext cx="109728" cy="109728"/>
          </a:xfrm>
          <a:prstGeom prst="rect">
            <a:avLst/>
          </a:prstGeom>
          <a:solidFill>
            <a:srgbClr val="9BB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BA05B"/>
                </a:solidFill>
                <a:latin typeface="微软雅黑"/>
              </a:defRPr>
            </a:pPr>
            <a:r>
              <a:t>关于青野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/>
              </a:defRPr>
            </a:pPr>
            <a:r>
              <a:t>ABOUT QINGYE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微软雅黑"/>
              </a:defRPr>
            </a:pPr>
            <a:r>
              <a:t>青野食研所成立于 2023 年，专注于健康轻食的研发与配送。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3D3D3D"/>
                </a:solidFill>
                <a:latin typeface="微软雅黑"/>
              </a:defRPr>
            </a:pPr>
            <a:r>
              <a:t>核心团队来自餐饮与营养学背景，坚持「食材干净、调味克制、出品稳定」的产品理念。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3D3D3D"/>
                </a:solidFill>
                <a:latin typeface="微软雅黑"/>
              </a:defRPr>
            </a:pPr>
          </a:p>
          <a:p>
            <a:pPr algn="l">
              <a:spcBef>
                <a:spcPts val="800"/>
              </a:spcBef>
              <a:defRPr sz="1500" b="0">
                <a:solidFill>
                  <a:srgbClr val="3D3D3D"/>
                </a:solidFill>
                <a:latin typeface="微软雅黑"/>
              </a:defRPr>
            </a:pPr>
            <a:r>
              <a:t>📍 位于 CBD 核心商圈，覆盖 3 公里半径即时配送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3D3D3D"/>
                </a:solidFill>
                <a:latin typeface="微软雅黑"/>
              </a:defRPr>
            </a:pPr>
            <a:r>
              <a:t>📦 日均产能 500+ 份，可承接 50-200 人规模的企业团餐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3D3D3D"/>
                </a:solidFill>
                <a:latin typeface="微软雅黑"/>
              </a:defRPr>
            </a:pPr>
            <a:r>
              <a:t>⭐ 已服务 30+ 家企业，好评率 98%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A05B"/>
                </a:solidFill>
                <a:latin typeface="微软雅黑"/>
              </a:defRPr>
            </a:pPr>
            <a:r>
              <a:t>我们的优势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3D3D3D"/>
                </a:solidFill>
                <a:latin typeface="微软雅黑"/>
              </a:rPr>
              <a:t>🥗 新鲜现做</a:t>
            </a:r>
            <a:r>
              <a:rPr sz="1300">
                <a:solidFill>
                  <a:srgbClr val="888888"/>
                </a:solidFill>
                <a:latin typeface="微软雅黑"/>
              </a:rPr>
              <a:t>
每日凌晨采购，当天制作，拒绝隔夜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D3D3D"/>
                </a:solidFill>
                <a:latin typeface="微软雅黑"/>
              </a:rPr>
              <a:t>🚚 准时送达</a:t>
            </a:r>
            <a:r>
              <a:rPr sz="1300">
                <a:solidFill>
                  <a:srgbClr val="888888"/>
                </a:solidFill>
                <a:latin typeface="微软雅黑"/>
              </a:rPr>
              <a:t>
承诺 11:30 前送达，不影响午休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D3D3D"/>
                </a:solidFill>
                <a:latin typeface="微软雅黑"/>
              </a:rPr>
              <a:t>📋 菜单轮换</a:t>
            </a:r>
            <a:r>
              <a:rPr sz="1300">
                <a:solidFill>
                  <a:srgbClr val="888888"/>
                </a:solidFill>
                <a:latin typeface="微软雅黑"/>
              </a:rPr>
              <a:t>
每周 5 套不同菜单，吃不腻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D3D3D"/>
                </a:solidFill>
                <a:latin typeface="微软雅黑"/>
              </a:rPr>
              <a:t>💰 企业专享价</a:t>
            </a:r>
            <a:r>
              <a:rPr sz="1300">
                <a:solidFill>
                  <a:srgbClr val="888888"/>
                </a:solidFill>
                <a:latin typeface="微软雅黑"/>
              </a:rPr>
              <a:t>
团餐均价比单点低 20-30%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D3D3D"/>
                </a:solidFill>
                <a:latin typeface="微软雅黑"/>
              </a:rPr>
              <a:t>♻️ 环保包装</a:t>
            </a:r>
            <a:r>
              <a:rPr sz="1300">
                <a:solidFill>
                  <a:srgbClr val="888888"/>
                </a:solidFill>
                <a:latin typeface="微软雅黑"/>
              </a:rPr>
              <a:t>
可降解餐盒 + 保温袋配送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BA05B"/>
                </a:solidFill>
                <a:latin typeface="微软雅黑"/>
              </a:defRPr>
            </a:pPr>
            <a:r>
              <a:t>服务模式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/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41148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A05B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微软雅黑"/>
              </a:defRPr>
            </a:pPr>
            <a:r>
              <a:t>确认合作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沟通企业人数、预算、用餐偏好</a:t>
            </a:r>
            <a:br/>
            <a:r>
              <a:t>签订月度配送协议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2560320" cy="41148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A05B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微软雅黑"/>
              </a:defRPr>
            </a:pPr>
            <a:r>
              <a:t>定制菜单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918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根据企业需求搭配每周菜单</a:t>
            </a:r>
            <a:br/>
            <a:r>
              <a:t>支持员工提前一天选餐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560320" cy="41148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A05B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微软雅黑"/>
              </a:defRPr>
            </a:pPr>
            <a:r>
              <a:t>每日配送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中央厨房统一制作</a:t>
            </a:r>
            <a:br/>
            <a:r>
              <a:t>保温箱配送至企业前台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828800"/>
            <a:ext cx="2560320" cy="41148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A05B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微软雅黑"/>
              </a:defRPr>
            </a:pPr>
            <a:r>
              <a:t>售后反馈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2918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每月收集用餐反馈</a:t>
            </a:r>
            <a:br/>
            <a:r>
              <a:t>动态调整菜单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BA05B"/>
                </a:solidFill>
                <a:latin typeface="微软雅黑"/>
              </a:defRPr>
            </a:pPr>
            <a:r>
              <a:t>包月套餐对比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/>
              </a:defRPr>
            </a:pPr>
            <a:r>
              <a:t>MEAL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43891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109728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轻享版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¥28 / 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微软雅黑"/>
              </a:defRPr>
            </a:pPr>
            <a:r>
              <a:t>适合预算优先</a:t>
            </a:r>
            <a:br/>
            <a:r>
              <a:t>的基本午餐需求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主食（三选一）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饮品 1 份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无甜品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每周 3 套菜单轮换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383280" cy="438912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828800"/>
            <a:ext cx="3383280" cy="109728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标准版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¥38 / 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017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A05B"/>
                </a:solidFill>
                <a:latin typeface="微软雅黑"/>
              </a:defRPr>
            </a:pPr>
            <a:r>
              <a:t>性价比之选</a:t>
            </a:r>
            <a:br/>
            <a:r>
              <a:t>最受欢迎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6576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主食 + 沙拉（各选一）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饮品 1 份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甜品/水果 1 份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每周 5 套菜单轮换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支持提前一日选餐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5669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👍 推荐选择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6035040"/>
            <a:ext cx="283464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8" y="1828800"/>
            <a:ext cx="3383280" cy="43891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8" y="1828800"/>
            <a:ext cx="3383280" cy="109728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8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尊享版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¥48 / 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3017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3D3D"/>
                </a:solidFill>
                <a:latin typeface="微软雅黑"/>
              </a:defRPr>
            </a:pPr>
            <a:r>
              <a:t>全品类自由搭配</a:t>
            </a:r>
            <a:br/>
            <a:r>
              <a:t>的高端体验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36576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主食 + 沙拉 + 小吃（各选一）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饮品 1 份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甜品 + 水果各 1 份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每周 5 套菜单轮换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支持提前一周选餐</a:t>
            </a:r>
          </a:p>
          <a:p>
            <a:pPr>
              <a:spcBef>
                <a:spcPts val="6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✓ 月度健康报告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BA05B"/>
                </a:solidFill>
                <a:latin typeface="微软雅黑"/>
              </a:defRPr>
            </a:pPr>
            <a:r>
              <a:t>本周菜单示例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/>
              </a:defRPr>
            </a:pPr>
            <a:r>
              <a:t>SAMPLE 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103120" cy="4572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103120" cy="64008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周一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烤鸡胸沙拉 + 南瓜浓汤</a:t>
            </a:r>
          </a:p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金枪鱼波奇饭 + 抹茶拿铁</a:t>
            </a:r>
          </a:p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经典凯撒沙拉 + 柠檬水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737360"/>
            <a:ext cx="2103120" cy="4572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737360"/>
            <a:ext cx="2103120" cy="64008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周二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56032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照烧鸡腿三明治 + 水果杯</a:t>
            </a:r>
          </a:p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牛油果拌饭 + 味噌汤</a:t>
            </a:r>
          </a:p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地中海沙拉 + 气泡水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737360"/>
            <a:ext cx="2103120" cy="4572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737360"/>
            <a:ext cx="2103120" cy="64008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周三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56032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烟熏三文鱼波奇饭</a:t>
            </a:r>
          </a:p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黑椒牛肉卷饼 + 蔬菜杯</a:t>
            </a:r>
          </a:p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泰式虾仁沙拉 + 椰子水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737360"/>
            <a:ext cx="2103120" cy="4572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1737360"/>
            <a:ext cx="2103120" cy="64008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周四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6032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日式鸡排饭 + 泡菜</a:t>
            </a:r>
          </a:p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吞拿鱼三明治 + 酸奶</a:t>
            </a:r>
          </a:p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考伯沙拉 + 蜂蜜柠檬茶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737360"/>
            <a:ext cx="2103120" cy="4572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737360"/>
            <a:ext cx="2103120" cy="64008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周五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56032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香草鸡胸全麦卷</a:t>
            </a:r>
          </a:p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韩式拌饭 + 海带汤</a:t>
            </a:r>
          </a:p>
          <a:p>
            <a:pPr>
              <a:spcBef>
                <a:spcPts val="1200"/>
              </a:spcBef>
              <a:defRPr sz="1300">
                <a:solidFill>
                  <a:srgbClr val="3D3D3D"/>
                </a:solidFill>
                <a:latin typeface="微软雅黑"/>
              </a:defRPr>
            </a:pPr>
            <a:r>
              <a:t>鲜虾牛油果沙拉 + 豆浆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BA05B"/>
                </a:solidFill>
                <a:latin typeface="微软雅黑"/>
              </a:defRPr>
            </a:pPr>
            <a:r>
              <a:t>配送流程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/>
              </a:defRPr>
            </a:pPr>
            <a:r>
              <a:t>DELIVERY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36576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D3D3D"/>
                </a:solidFill>
                <a:latin typeface="微软雅黑"/>
              </a:defRPr>
            </a:pPr>
            <a:r>
              <a:t>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A05B"/>
                </a:solidFill>
                <a:latin typeface="微软雅黑"/>
              </a:defRPr>
            </a:pPr>
            <a:r>
              <a:t>前日 17:00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员工通过小程序</a:t>
            </a:r>
            <a:br/>
            <a:r>
              <a:t>完成次日选餐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A05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011680"/>
            <a:ext cx="2560320" cy="36576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D3D3D"/>
                </a:solidFill>
                <a:latin typeface="微软雅黑"/>
              </a:defRPr>
            </a:pPr>
            <a:r>
              <a:t>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A05B"/>
                </a:solidFill>
                <a:latin typeface="微软雅黑"/>
              </a:defRPr>
            </a:pPr>
            <a:r>
              <a:t>当日 07:00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中央厨房开始</a:t>
            </a:r>
            <a:br/>
            <a:r>
              <a:t>制作与打包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A05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2560320" cy="36576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D3D3D"/>
                </a:solidFill>
                <a:latin typeface="微软雅黑"/>
              </a:defRPr>
            </a:pPr>
            <a:r>
              <a:t>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A05B"/>
                </a:solidFill>
                <a:latin typeface="微软雅黑"/>
              </a:defRPr>
            </a:pPr>
            <a:r>
              <a:t>当日 10:30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保温车配送出发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A05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011680"/>
            <a:ext cx="2560320" cy="36576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D3D3D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A05B"/>
                </a:solidFill>
                <a:latin typeface="微软雅黑"/>
              </a:defRPr>
            </a:pPr>
            <a:r>
              <a:t>当日 11:30 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送达企业前台</a:t>
            </a:r>
            <a:br/>
            <a:r>
              <a:t>完成签收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BA05B"/>
                </a:solidFill>
                <a:latin typeface="微软雅黑"/>
              </a:defRPr>
            </a:pPr>
            <a:r>
              <a:t>价格方案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/>
              </a:defRPr>
            </a:pPr>
            <a:r>
              <a:t>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651760" cy="54864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737360"/>
            <a:ext cx="2651760" cy="54864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周期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2651760" cy="54864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单价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737360"/>
            <a:ext cx="2651760" cy="54864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77440"/>
            <a:ext cx="2651760" cy="86868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试吃体验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377440"/>
            <a:ext cx="2651760" cy="86868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前 3 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77440"/>
            <a:ext cx="2651760" cy="86868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免费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377440"/>
            <a:ext cx="2651760" cy="86868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让团队先体验</a:t>
            </a:r>
            <a:br/>
            <a:r>
              <a:t>再决定是否合作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月度合作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38328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20 个工作日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8328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¥28-48 / 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38328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按选定套餐定价</a:t>
            </a:r>
            <a:br/>
            <a:r>
              <a:t>月结开票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389120"/>
            <a:ext cx="2651760" cy="86868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72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季度合作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4389120"/>
            <a:ext cx="2651760" cy="86868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572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60 个工作日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389120"/>
            <a:ext cx="2651760" cy="86868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572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¥25-43 / 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4389120"/>
            <a:ext cx="2651760" cy="86868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572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享 9 折优惠</a:t>
            </a:r>
            <a:br/>
            <a:r>
              <a:t>优先排单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39496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577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年度合作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539496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5577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240 个工作日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39496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577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¥23-40 / 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5394960"/>
            <a:ext cx="2651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5577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享 85 折优惠</a:t>
            </a:r>
            <a:br/>
            <a:r>
              <a:t>专属菜单定制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/>
              </a:defRPr>
            </a:pPr>
            <a:r>
              <a:t>* 以上价格不含税，餐费月结，可开增值税普通发票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BA05B"/>
                </a:solidFill>
                <a:latin typeface="微软雅黑"/>
              </a:defRPr>
            </a:pPr>
            <a:r>
              <a:t>合作流程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/>
              </a:defRPr>
            </a:pPr>
            <a:r>
              <a:t>COOPERATION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36576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2286000"/>
            <a:ext cx="1097280" cy="36576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A05B"/>
                </a:solidFill>
                <a:latin typeface="微软雅黑"/>
              </a:defRPr>
            </a:pPr>
            <a:r>
              <a:t>联系我们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扫码或电话沟通</a:t>
            </a:r>
            <a:br/>
            <a:r>
              <a:t>了解企业需求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A05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2560320" cy="36576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1097280" cy="36576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A05B"/>
                </a:solidFill>
                <a:latin typeface="微软雅黑"/>
              </a:defRPr>
            </a:pPr>
            <a:r>
              <a:t>免费试餐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安排 3 份试吃餐</a:t>
            </a:r>
            <a:br/>
            <a:r>
              <a:t>体验品质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A05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011680"/>
            <a:ext cx="2560320" cy="36576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2286000"/>
            <a:ext cx="1097280" cy="36576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A05B"/>
                </a:solidFill>
                <a:latin typeface="微软雅黑"/>
              </a:defRPr>
            </a:pPr>
            <a:r>
              <a:t>签约付款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确认方案后</a:t>
            </a:r>
            <a:br/>
            <a:r>
              <a:t>签订月度/季度合同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A05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011680"/>
            <a:ext cx="2560320" cy="36576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960" y="2286000"/>
            <a:ext cx="1097280" cy="36576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A05B"/>
                </a:solidFill>
                <a:latin typeface="微软雅黑"/>
              </a:defRPr>
            </a:pPr>
            <a:r>
              <a:t>开始配送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3D3D"/>
                </a:solidFill>
                <a:latin typeface="微软雅黑"/>
              </a:defRPr>
            </a:pPr>
            <a:r>
              <a:t>次周起正式配送</a:t>
            </a:r>
            <a:br/>
            <a:r>
              <a:t>专人跟进服务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552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7B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让每一餐</a:t>
            </a:r>
            <a:br/>
            <a:r>
              <a:t>都值得期待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DE0C0"/>
                </a:solidFill>
                <a:latin typeface="微软雅黑"/>
              </a:defRPr>
            </a:pPr>
            <a:r>
              <a:t>期待与您的企业合作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A05B"/>
                </a:solidFill>
                <a:latin typeface="微软雅黑"/>
              </a:defRPr>
            </a:pPr>
            <a:r>
              <a:t>联系我们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D3D3D"/>
                </a:solidFill>
                <a:latin typeface="微软雅黑"/>
              </a:defRPr>
            </a:pPr>
            <a:r>
              <a:t>📞 电话：138-0000-8888</a:t>
            </a:r>
          </a:p>
          <a:p>
            <a:pPr>
              <a:spcBef>
                <a:spcPts val="1200"/>
              </a:spcBef>
              <a:defRPr sz="1600">
                <a:solidFill>
                  <a:srgbClr val="3D3D3D"/>
                </a:solidFill>
                <a:latin typeface="微软雅黑"/>
              </a:defRPr>
            </a:pPr>
            <a:r>
              <a:t>📧 邮箱：qingye@foodlab.com</a:t>
            </a:r>
          </a:p>
          <a:p>
            <a:pPr>
              <a:spcBef>
                <a:spcPts val="1200"/>
              </a:spcBef>
              <a:defRPr sz="1600">
                <a:solidFill>
                  <a:srgbClr val="3D3D3D"/>
                </a:solidFill>
                <a:latin typeface="微软雅黑"/>
              </a:defRPr>
            </a:pPr>
            <a:r>
              <a:t>💬 微信：qingye_food</a:t>
            </a:r>
          </a:p>
          <a:p>
            <a:pPr>
              <a:spcBef>
                <a:spcPts val="1200"/>
              </a:spcBef>
              <a:defRPr sz="1600">
                <a:solidFill>
                  <a:srgbClr val="3D3D3D"/>
                </a:solidFill>
                <a:latin typeface="微软雅黑"/>
              </a:defRPr>
            </a:pPr>
            <a:r>
              <a:t>📍 地址：北京市朝阳区建国路 88 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/>
              </a:defRPr>
            </a:pPr>
            <a:r>
              <a:t>扫码添加商务微信，预约免费试餐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5029200"/>
            <a:ext cx="10972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53035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微软雅黑"/>
              </a:defRPr>
            </a:pPr>
            <a: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